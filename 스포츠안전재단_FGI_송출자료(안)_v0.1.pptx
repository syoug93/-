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송출 안 함. 기술 스탭은 이 파일을 슬라이드쇼로 열어 두고, 큐시트의 '송출' 행 시점에 해당 슬라이드로 이동한다. 각 슬라이드 상단 오른쪽 태그가 송출 그룹·파트·예정 시각이다.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내부 확인용. C·D는 재단 홈페이지 캡처가 필요하다(이 초안 작성 환경에서는 재단 사이트에 접속되지 않아 자리만 잡아 두었다). E는 이병덕 대표가 만든 법령 안내 슬라이드 v0.7과 같은 6장 구성이며 문안을 통일했다.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모더레이터 멘트(원문): “재단 사업명이 기존 ‘공제 서비스’에서 ‘손해구제 서비스’로 변경되었습니다. 기존 ‘스포츠안전공제’가 보험 중심의 다소 한정적인 의미였다면, ‘손해구제 서비스’는 스포츠 활동 중 사고 발생 전·중·후 체육인에게 발생할 수 있는 다양한 손해를 폭넓게 구제한다는 의미입니다. 기존 공제보험도 손해구제 서비스에 포함되며, 오늘 논의의 주요 대상은 기존 공제보험입니다.”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그룹 2·3 도입 10분 중 약 5분. 슬라이드를 띄운 뒤 세 가지를 읽고, 현재 제공 중인 보장 내용을 한 줄로 덧붙인다. 송출 직후 등록 관리가 G2-10·11 / G3-11·12 평가지를 작성·회수한다. 브리핑 전에 작성한 응답은 수정하지 않는다. 재단 상품을 평가·홍보하는 표현은 쓰지 않는다(사실 전달 한정).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송출 시점: 그룹 1 ‘가입 절차’ 파트(14:20~14:35), 세 번째 질문 뒤. 실제 화면은 D-1 리허설 전에 재단 홈페이지에서 캡처해 교체한다(개인정보가 보이지 않는 빈 입력 화면으로). 화면을 띄운 채 참석자가 자기 경험을 떠올리게 하는 용도이며, 화면 자체를 평가하도록 유도하지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송출 시점: 그룹 1 ‘가입 절차’ 파트 마지막 질문. 화면 캡처는 D-1 리허설 전에 교체한다. AI 상담을 써 본 참석자가 없으면 화면만 보여 주고 다음 파트(콜센터·고객센터)로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송출 시점: 그룹 1 15:30 · 그룹 2 14:30 · 그룹 3 15:20 · 그룹 4 14:45 (법·제도 인식 파트). 순서: ① 법률별 인지 거수(송출 전, 평가지 제도 인지 문항도 송출 전 응답 확정) → ② 이 섹션 6장 송출 → ③ 경험·의견 청취. 제도 찬반이나 재단 상품 평가를 유도하는 표현은 쓰지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모더레이터: 정의와 기준만 읽는다. 이어서 ‘생활체육·전문체육 대회나 강습을 개최할 때 재난안전의무보험 가입(대인 1억 5천만 원 이상)이 의무라는 것을 알고 계셨습니까?’ 질문으로 연결. 거수 보기: ① 가입 기준까지 안다 ② 의무라는 것만 들어봤다 ③ 처음 듣는다.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그룹 2에서는 이 슬라이드 뒤에 ‘소속·산하 단체가 대회를 개최할 때 이 요건을 안내·확인하는 절차가 있습니까?’로 연결(거수: 공식/일부/비공식/없다/모름). 그룹 4에서는 ‘가입 상담·심사 과정에서 주최자에게 요건을 안내·확인하는 프로세스가 있습니까?’로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그룹 1 체육시설 관리자 참석자에게: ‘관련 법령상 의무가 실제 가입·운영 결정에 어떤 영향을 미치며, 준수 과정에서 필요한 지원은 무엇입니까?’ 그룹 3에서는 안전책임 강화가 보험·공제 수요와 상품 설계에 미칠 영향으로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형사처벌 수위나 적용 여부에 대한 개별 질문에는 답하지 않는다. FGI 논의 지점: 시설·단체의 체감 부담 변화(그룹 1·2), 안전관리 연계 서비스 수요(그룹 2·3), 재단 사업 확장 기회(그룹 3·4).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장을 띄운 채 경험·의견 질문으로 넘어간다. 그룹 1: ‘이 의무가입 기준이 현장에서 잘 지켜지고 있다고 보십니까? 지키기 어렵게 만드는 요인은?’ 그룹 2: ‘미가입·과소가입을 줄이기 위해 재단과 협력단체가 함께 해야 할 일은?’ 그룹 3: ‘규제 변화는 재단 공제에 기회인가 위협인가?’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그룹 1 법·제도 파트에서 법령 6장 대신 또는 뒤이어 송출. 재단 공식 페이지를 브라우저로 함께 띄워도 된다(인터넷 확인). 대회·행사 주최 경험자에게만 확인 포인트 질문을 한다. 그룹 2·4에서도 보조 자료로 쓸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송출과 동시에 등록 관리가 Top 3 개인 작성 용지를 배부한다. 3분 뒤 회수하고, 오거나이저가 참석자별 1~3순위를 그대로 옮겨 적는다. 공유 후 ‘지표관리 체계(OLS 기반)를 자체 운영한다면 어떤 역량과 지원이 필요합니까?’로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1D70A2"/>
          </a:solidFill>
          <a:ln w="12700">
            <a:solidFill>
              <a:srgbClr val="1D70A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686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737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FGI 송출 자료(안)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A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스포츠안전재단 손해구제 서비스 만족도 조사 · 집단심층면접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A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인터뷰룸 모니터 송출용 · 4개 그룹 공통 세트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A5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v0.1 · 2026-09-06 · 코리아스픽스 숙의공론컨설팅본부 · 내부 검토용(대외비)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7490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28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송출 자료 구성과 시점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7498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큐시트 v1.0의 '송출' 행 기준 · 시각은 시작 14:00 기준 예정 시각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75120" y="2926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75120" y="2926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내부용 · 송출 제외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1188720"/>
                <a:gridCol w="2103120"/>
                <a:gridCol w="1920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슬라이드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송출 그룹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 · 예정 시각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 사업명 변경 안내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그룹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도입 · 14:00~14:10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멘트와 함께 화면에 띄우면 이해가 빠름(선택)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 재단 서비스 특장점 3가지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2 · 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도입 · 약 14:05 (5분)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송출 직후 G2-10·11 / G3-11·12 평가지 작성·회수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C. 온라인 가입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절차 · 14:20~14:35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재단 홈페이지 실제 화면 캡처 삽입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D. AI 상담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절차 · 14:20~14:35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재단 AI 상담 실제 화면 캡처 삽입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E. 법령 안내 (6장)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그룹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G1 15:30 · G2 14:30 · G3 15:20 · G4 14:45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인지 확인 거수 → 송출 → 경험·의견 청취 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F. 재난안전의무보험 가입기준 안내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1 (2·4 보조)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법·제도 인식 파트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재단 공식 안내 페이지(insu.sportsafety.or.kr) 병행 송출 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G. 시급한 과제 Top 3 작성 안내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향후 방향 · 15:30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작성 용지 배부와 동시에 화면 안내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스포츠안전재단 FGI 큐시트 v1.0 · 실행계획안 및 진행 시나리오 v0.9.1 · 회차별 현장 기록 문서 v0.7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7490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28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재단 사업명 변경 안내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7498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논의의 주요 대상은 기존 공제보험입니다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52160" y="2926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292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그룹 · 도입 14:00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32588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공제 서비스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‘스포츠안전공제’ — 보험 중심의 다소 한정적인 의미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828800"/>
            <a:ext cx="457200" cy="457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663440" y="132588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A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1691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손해구제 서비스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4846320" y="2240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A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발생 전·중·후 체육인에게 생길 수 있는 다양한 손해를 폭넓게 구제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57200" y="3017520"/>
            <a:ext cx="8229600" cy="1417320"/>
          </a:xfrm>
          <a:prstGeom prst="roundRect">
            <a:avLst>
              <a:gd name="adj" fmla="val 7742"/>
            </a:avLst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5800" y="3154680"/>
            <a:ext cx="777240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공제보험은 손해구제 서비스에 포함되는 개념입니다.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인터뷰에서 다루는 주요 대상은 기존의 공제보험입니다.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 상품 명칭(주최자배상책임공제, 생활체육인상해공제 등)은 그대로 쓰셔도 됩니다.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문안 출처: 스포츠안전재단 추가요구사항(2026-09-03) · 실행계획안 v0.9.1 ‘① 사업명 변경 안내’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7490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28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재단 서비스의 차별성 3가지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7498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민간 손해보험 상품과 비교할 때 재단 서비스가 갖는 특징입니다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52160" y="2926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292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2·3 · 도입 약 14:05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62763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580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가입 거절 없음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697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종목·연령·장애 여부·병력 유무 등을 이유로 가입을 거절하지 않습니다.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종목, 고령자, 장애인 체육, 기왕증 보유자도 동일 조건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46120" y="128016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74720" y="1463040"/>
            <a:ext cx="640080" cy="64008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162763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47472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중복 보상 가능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474720" y="2697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실손보험 등 다른 보험과 중복하여 보상받을 수 있습니다.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347472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배상책임·실비 담보는 비례보상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035040" y="128016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63640" y="1463040"/>
            <a:ext cx="640080" cy="64008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1627632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26364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전용·특화 담보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263640" y="2697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생활체육인·전문체육인의 특성을 반영한 전용 담보를 운영합니다.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626364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 측 과실이 없는 운동 중 부상 치료비, 배상책임 등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스포츠안전재단 추가요구사항(2026-09-03) · 실행계획안 v0.9.1 ‘② 재단 서비스 특장점 브리핑’ · 최신 보장 내용은 재단 확인 후 송출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7490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28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가입 화면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7498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기억을 떠올리기 위한 리마인드 화면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52160" y="2926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292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1 · 가입 절차 14:20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51206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88" y="1252728"/>
            <a:ext cx="5084064" cy="347472"/>
          </a:xfrm>
          <a:prstGeom prst="rect">
            <a:avLst/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" y="1344168"/>
            <a:ext cx="146304" cy="146304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1344168"/>
            <a:ext cx="146304" cy="146304"/>
          </a:xfrm>
          <a:prstGeom prst="ellipse">
            <a:avLst/>
          </a:prstGeom>
          <a:solidFill>
            <a:srgbClr val="1D70A2"/>
          </a:solidFill>
          <a:ln w="12700">
            <a:solidFill>
              <a:srgbClr val="1D70A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4128" y="1344168"/>
            <a:ext cx="146304" cy="14630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25880" y="1316736"/>
            <a:ext cx="4023360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417320" y="1316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www.sportsafety.or.kr</a:t>
            </a:r>
            <a:endParaRPr lang="en-US" sz="8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28600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22960" y="30175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재단 홈페이지 온라인 가입 화면 캡처 삽입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(상품 선택 → 가입자 정보 입력 → 결제·완료, 단계별 3~4장 권장)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화면은 세로로 나란히 배치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585216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보며 여쭙는 것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852160" y="1645920"/>
            <a:ext cx="2834640" cy="2834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온라인(모바일) 가입 화면과 소요 시간은 적절했습니까?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과정에서 중단하고 싶었거나 불편했던 순간이 있었습니까?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무심사 가입(병력·부상 이력 무관)의 편의성을 실제로 체감하셨습니까?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 표시 슬라이드 — 재단 홈페이지 실제 화면으로 교체 필요 · 질문 출처: 실행계획안 v0.9.1 그룹 1 ‘가입 절차(정량 A 연동)’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7490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28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상담 화면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7498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상담 서비스 이용 경험을 묻기 위한 리마인드 화면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52160" y="2926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292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1 · 가입 절차 14:30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51206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88" y="1252728"/>
            <a:ext cx="5084064" cy="347472"/>
          </a:xfrm>
          <a:prstGeom prst="rect">
            <a:avLst/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" y="1344168"/>
            <a:ext cx="146304" cy="146304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1344168"/>
            <a:ext cx="146304" cy="146304"/>
          </a:xfrm>
          <a:prstGeom prst="ellipse">
            <a:avLst/>
          </a:prstGeom>
          <a:solidFill>
            <a:srgbClr val="1D70A2"/>
          </a:solidFill>
          <a:ln w="12700">
            <a:solidFill>
              <a:srgbClr val="1D70A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4128" y="1344168"/>
            <a:ext cx="146304" cy="14630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25880" y="1316736"/>
            <a:ext cx="4023360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417320" y="1316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www.sportsafety.or.kr</a:t>
            </a:r>
            <a:endParaRPr lang="en-US" sz="8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28600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22960" y="30175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재단 AI 상담(챗봇) 화면 캡처 삽입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(진입 화면 + 대화 예시 1~2장)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질문·답변 예시는 상품 일반 안내 수준으로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585216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보며 여쭙는 것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852160" y="1645920"/>
            <a:ext cx="2834640" cy="2834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상담 서비스를 이용해 보셨습니까?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이용하셨다면 경험은 어땠습니까? 원하는 답을 얻으셨습니까?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이용하지 않으셨다면, 어떤 경우에 쓸 것 같습니까?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 표시 슬라이드 — 재단 AI 상담 실제 화면으로 교체 필요 · 질문 출처: 실행계획안 v0.9.1 그룹 1 ‘가입 절차(정량 A 연동)’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1D70A2"/>
          </a:solidFill>
          <a:ln w="12700">
            <a:solidFill>
              <a:srgbClr val="1D70A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749808"/>
            <a:ext cx="420624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508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스포츠 안전 관련 주요 법령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40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A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보험·공제 가입 의무와 안전책임 — 참여자 인지·경험·지원 수요를 여쭙기 위한 안내입니다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9718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D70A2"/>
          </a:solidFill>
          <a:ln w="12700">
            <a:solidFill>
              <a:srgbClr val="1D70A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971800"/>
            <a:ext cx="1828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재난 및 안전관리 기본법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재난안전의무보험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651760" y="29718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D70A2"/>
          </a:solidFill>
          <a:ln w="12700">
            <a:solidFill>
              <a:srgbClr val="1D70A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51760" y="2971800"/>
            <a:ext cx="1828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생활체육진흥법 제12조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체육인복지법 제9조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29718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D70A2"/>
          </a:solidFill>
          <a:ln w="12700">
            <a:solidFill>
              <a:srgbClr val="1D70A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2971800"/>
            <a:ext cx="1828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체육시설의 설치·이용에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관한 법률 제26조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75120" y="29718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D70A2"/>
          </a:solidFill>
          <a:ln w="12700">
            <a:solidFill>
              <a:srgbClr val="1D70A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75120" y="2971800"/>
            <a:ext cx="1828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중대재해 처벌 등에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관한 법률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A5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 자문이 아닌 제도 안내입니다. 개별 사안은 스포츠안전재단 고객상담 1899-0547로 확인해 주십시오.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7490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28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재난안전의무보험이란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7498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「재난 및 안전관리 기본법」 제3조제10호의2 · 시행령 제84조의2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52160" y="2926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292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그룹 · 법·제도 인식 파트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4846320" cy="3108960"/>
          </a:xfrm>
          <a:prstGeom prst="roundRect">
            <a:avLst>
              <a:gd name="adj" fmla="val 3529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463040"/>
            <a:ext cx="4480560" cy="2834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법률로 가입을 의무화한 보험·공제를 통틀어 부르는 개념입니다.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스포츠 분야에서는 생활체육 대회·강습, 전문체육 대회 개최자에게 적용됩니다.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기준: 사망 1인당 1억 5천만 원 이상 보장(대인 담보).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재단 대응 상품: 주최자배상책임공제 — 대인 담보 필수, 치료비·대물·물적손해 등 선택.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577840" y="1280160"/>
            <a:ext cx="3108960" cy="3108960"/>
          </a:xfrm>
          <a:prstGeom prst="roundRect">
            <a:avLst>
              <a:gd name="adj" fmla="val 3529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A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대인 담보 가입 기준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8745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A5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1억 5천만 원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 1인당 · 이상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760720" y="3291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A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기준을 채우지 못한 가입(과소가입)은 법정 요건 미충족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스포츠안전재단 재난안전의무보험 가입기준 안내 · 국가법령정보센터 조문 · 인용 전 최신 조문 확인 · 법률 자문 아님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7490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28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스포츠 분야 의무보험 2종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7498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가입해야 하는가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52160" y="2926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292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그룹 · 법·제도 인식 파트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생활체육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1719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생활체육안전보험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70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「생활체육진흥법」 제12조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5146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생활체육 대회를 개최하거나 강습을 하려는 생활체육단체 등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663440" y="128016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002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57784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전문체육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577840" y="1719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운동경기대회배상책임보험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489204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70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「체육인복지법」 제9조 (시행령 제14조)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4892040" y="25146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대통령령으로 정하는 운동경기 대회를 개최·운영하는 자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85800" y="36118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재단 대응 상품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주최자배상책임공제 — 대인 담보(사망 1인당 1억 5천만 원 이상) 필수 · 치료비·대물·물적손해 등 선택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국가법령정보센터 각 법령 조문 · 스포츠안전재단 재난안전의무보험 가입기준 안내 · 법률 자문 아님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7490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28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체육시설업자 손해보험 가입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7498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「체육시설의 설치·이용에 관한 법률」 제26조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52160" y="2926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292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그룹 · 법·제도 인식 파트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12801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체육시설업 등록·신고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1572768"/>
            <a:ext cx="27432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46120" y="128016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29000" y="1481328"/>
            <a:ext cx="457200" cy="45720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42900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023360" y="12801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신고일부터 10일 이내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1572768"/>
            <a:ext cx="274320" cy="2743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035040" y="128016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17920" y="1481328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21792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812280" y="12801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손해보험 또는 공제 가입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57200" y="237744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8580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 기준·방법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85800" y="2880360"/>
            <a:ext cx="365760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 1인당 1억 5천만 원 (재난안전의무보험과 같은 수준)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단체 가입 가능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사실 증명 서류를 지체 없이 제출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4663440" y="237744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8920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 가입 제외 업종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4892040" y="28803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체육도장업 · 골프연습장업 · 체력단련장업 · 당구장업 · 가상체험 체육시설업 · 체육교습업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4892040" y="36118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70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재단 대응 상품  </a:t>
            </a:r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체육시설업자배상책임공제 · 체육시설재산종합공제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국가법령정보센터 체육시설법 제26조 · 자동차손해배상 보장법 시행령 제3조제1항 · 법률 자문 아님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7490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28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안전책임 강화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7498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「중대재해 처벌 등에 관한 법률」 — 스포츠 분야는 ‘중대시민재해’가 주로 관련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52160" y="2926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292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그룹 · 법·제도 인식 파트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중대시민재해 — 공중이용시설(실내 체육시설 포함) 등의 설계·제조·설치·관리상 결함으로 발생한 재해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69164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A5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1명 이상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사망자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46120" y="169164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29000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A5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10명 이상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34290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2개월 이상 치료가 필요한 부상자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35040" y="169164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A5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10명 이상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이상 치료가 필요한 질병자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301752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3127248"/>
            <a:ext cx="777240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사업주·경영책임자는 안전보건관리체계 구축·이행, 재발 방지 대책, 관계 법령 의무 이행 등 안전·보건 확보 의무를 집니다.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도급·용역·위탁 시에도 이용자 안전을 위한 관리 조치 의무가 있습니다(대회 운영 대행, 시설 위탁운영도 책임 면제 없음).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보험·공제는 민사상 배상 위험을 이전할 뿐 형사책임을 대체하지 못합니다.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국가법령정보센터 중대재해처벌법 조문 · 재단 대응 상품 없음(안전관리·리스크 논의용) · 법률 자문 아님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7490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28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7498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가지만 기억해 주십시오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52160" y="2926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292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그룹 · 법·제도 인식 파트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8182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7218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32588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대회·강습을 열면 보험·공제 가입이 법으로 정해져 있습니다.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57200" y="2039112"/>
            <a:ext cx="8229600" cy="603504"/>
          </a:xfrm>
          <a:prstGeom prst="roundRect">
            <a:avLst>
              <a:gd name="adj" fmla="val 18182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85416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039112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기준은 사망 1인당 1억 5천만 원 이상입니다.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18182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898648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43000" y="2752344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체육시설업자는 등록·신고 후 10일 이내에 가입합니다.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457200" y="3465576"/>
            <a:ext cx="8229600" cy="603504"/>
          </a:xfrm>
          <a:prstGeom prst="roundRect">
            <a:avLst>
              <a:gd name="adj" fmla="val 18182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611880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43000" y="3465576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사안은 재단 고객상담(1899-0547)으로 확인합니다.</a:t>
            </a:r>
            <a:endParaRPr lang="en-US" sz="15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279392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77240" y="42336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스포츠안전재단 고객상담  1899-0547  ·  재난안전의무보험 가입기준 안내  insu.sportsafety.or.kr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7490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28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재난안전의무보험 가입기준 안내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7498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재단 주최자배상책임공제로 법정 요건을 충족하는 방법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69280" y="292608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0" y="2926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1 · 법·제도 인식 15:30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210312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대상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법령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법정 요건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재단 대응 상품 · 담보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생활체육 대회 개최 · 강습 실시 단체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생활체육진흥법 제12조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재난안전의무보험 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대인 1억 5천만 원 이상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주최자배상책임공제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대인 담보 필수 · 치료비·대물 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전문체육 운동경기 대회 개최·운영자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체육인복지법 제9조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재난안전의무보험 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대인 1억 5천만 원 이상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주최자배상책임공제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대인 담보 필수 · 치료비·대물 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체육시설업자 (등록·신고 업종)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체육시설법 제26조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등록·신고 후 10일 이내 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사망 1인당 1억 5천만 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체육시설업자배상책임공제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체육시설재산종합공제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3657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  </a:t>
            </a:r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대회를 여실 때 주최자배상책임공제의 대인 담보 한도를 어떤 기준으로 정하셨습니까? 1억 5천만 원 이상 요건을 확인하고 가입하셨습니까?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스포츠안전재단 「재난안전의무보험 가입기준 안내」(insu.sportsafety.or.kr) 재구성 · 송출 전 재단 최신 안내와 대조 · 법률 자문 아님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7490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28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시급한 개선 과제 Top 3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7498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시급한 서비스 개선 과제 3가지 — 개인별로 작성한 뒤 함께 이야기 나눕니다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52160" y="2926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292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4 · 향후 방향 15:30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4937760" cy="3108960"/>
          </a:xfrm>
          <a:prstGeom prst="roundRect">
            <a:avLst>
              <a:gd name="adj" fmla="val 3529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581912"/>
            <a:ext cx="502920" cy="50292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325880" y="2130552"/>
            <a:ext cx="3840480" cy="0"/>
          </a:xfrm>
          <a:prstGeom prst="line">
            <a:avLst/>
          </a:prstGeom>
          <a:noFill/>
          <a:ln w="15875">
            <a:solidFill>
              <a:srgbClr val="C9D6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2514600"/>
            <a:ext cx="502920" cy="50292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2441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2순위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325880" y="3063240"/>
            <a:ext cx="3840480" cy="0"/>
          </a:xfrm>
          <a:prstGeom prst="line">
            <a:avLst/>
          </a:prstGeom>
          <a:noFill/>
          <a:ln w="15875">
            <a:solidFill>
              <a:srgbClr val="C9D6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447288"/>
            <a:ext cx="502920" cy="50292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3741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3순위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325880" y="3995928"/>
            <a:ext cx="3840480" cy="0"/>
          </a:xfrm>
          <a:prstGeom prst="line">
            <a:avLst/>
          </a:prstGeom>
          <a:noFill/>
          <a:ln w="15875">
            <a:solidFill>
              <a:srgbClr val="C9D6E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0" y="1280160"/>
            <a:ext cx="3017520" cy="3108960"/>
          </a:xfrm>
          <a:prstGeom prst="roundRect">
            <a:avLst>
              <a:gd name="adj" fmla="val 3636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89788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안내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897880" y="1828800"/>
            <a:ext cx="2651760" cy="2468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시간 3분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용지에 성명 대신 응답자 번호만 적습니다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가입·청구 절차, 고객센터, 상품·보장, 시스템, 조직 무엇이든 좋습니다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후 회수하고, 번호 순서로 1순위부터 공유합니다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실행계획안 v0.9.1 그룹 4 ‘향후 방향’ · 서면 평가지 G4-9 · 개인 작성 용지는 등록 관리가 배부·회수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스포츠안전재단 FGI 송출 자료(안) v0.1</dc:title>
  <dc:subject>PptxGenJS Presentation</dc:subject>
  <dc:creator>코리아스픽스 숙의공론컨설팅본부</dc:creator>
  <cp:lastModifiedBy>코리아스픽스 숙의공론컨설팅본부</cp:lastModifiedBy>
  <cp:revision>1</cp:revision>
  <dcterms:created xsi:type="dcterms:W3CDTF">2026-09-07T01:00:46Z</dcterms:created>
  <dcterms:modified xsi:type="dcterms:W3CDTF">2026-09-07T01:00:46Z</dcterms:modified>
</cp:coreProperties>
</file>